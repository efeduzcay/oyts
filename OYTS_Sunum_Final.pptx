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Sunuma hoş geldiniz mesajıyla başlayın. Proje adı, üniversite ve ekip üyeleri vurgulayın. 'Bu projemiz BIP 2012 kapsamında geliştirdiğimiz otonom bir yangın tespit ve müdahale robotudur.' diyebilirsiniz. Süre: ~30 sn.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Projemiz konferans salonu, depo, benzin istasyonu gibi yerlerde gece-gündüz devriye gezen bir robot. 7 bin satırı aşan kod ve 50 otomatik test ile profesyonel yazılım kalitesi hedefledik. Süre: ~40 sn.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Türkiye'de yılda 70 binin üzerinde yangın olayı yaşanıyor. Çoğu ilk dakikalarda fark edilseydi büyük hasara dönüşmezdi. Mevcut alarm sistemleri yetersiz ve insana bağımlı.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Hem hızlı, hem tamamen otonom, hem hareketli ve ev/ofis ölçeğinde uygun fiyatlı bir çözüm yoktu. Profesyonel sistemler binlerce dolar. Biz bu boşluğu hedefledik.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Sistemimizin 3 yeteneği: görme, karar verme, müdahale. ESP32 her saniye onlarca frame yollar, model analiz eder, FSM komut üretir. Süre: ~40 sn.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katmanlı modüler tasarım. Her katman izole test edilebilir. PC kameraya MJPEG ile, Mega'ya USB serial ile bağlı. ESP32 ve Mega birbirine kablo ile bağlı DEĞİL — ikisi de aynı PC ile konuşur.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Tüm bileşenler yaygın ve uygun fiyatlı. Bilinçli seçim — başka öğrenciler de aynı projeyi tekrarlayabilsin. PC hariç toplam 600-800 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ESP32-CAM bir mini-web sunucu gibi. PC doğrudan stream izler, JSON telemetri çeker. Bağlantı düşse otomatik bağlanır. CORS açık → GitHub Pages bile bağlanabilir.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 Mega projenin omurgası. Önemli nokta: hiçbir komut bloklamaz. Servo hareket ederken bile motor zaman aşımı ve voltaj okuma çalışır. Yapısal protokol PC ile sağlam iletişim kurar.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tarafı projemizin beynidir. Sadece YOLO değil — çıktıyı filtreleyen, takip eden, önceliklendiren, robot komutuna çeviren tüm zinciri biz yazdık. 13 modül, her biri tek sorumluluğa sahip.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YOLOv8 gerçek zamanlı obje tespiti için tasarlanmış. Biz kendi sentetik dataset'imizle fine-tune ettik — mAP50 0.55'ten 0.93'e yükseldi. Backbone freeze ederek gerçek dünya bilgisini koruduk.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Bulanık mantık insan gibi düşünme imkânı verir. Bir alev hem küçük hem orta olabilir. Mamdani modeli en yaygın bulanık çıkarsama yöntemidir.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SA, NP-zor problemleri yaklaşık çözmek için kullanılan klasik algoritma. Robot tüm yangınları minimum mesafeyle ziyaret etmeli. Algoritma rasgele kötü hamleleri kabul ederek local minimum tuzaklarından kaçar.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modülü biz tasarladık. Gerçek alevin 4 fiziksel özelliği: beyaz çekirdek, içten titreme, hareket, karakteristik renk profili. Fotoğraf veya cilt bu kombinasyonun tümünü gösteremez.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Sentetik sahne projemizin gizli kahramanı. Bu sayede her şart altında sistemi test edebiliyoruz. Hatta YOLO modelimizi bu sahnelerden 5000 frame ile fine-tune ederek başarımını artırdık.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Sadece çalışan prototip değil — bakım yapılabilir, test edilebilir yazılım. 50 birim test her commit'te otomatik çalışır. Gerçek üretim kalitesi standardı.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farklı modda demo: sentetik, webcam, ESP32. Şimdi canlı demo yapacağım. Sistem 2 yangını otomatik tespit ediyor, mesafe ölçüyor, risk haritası gösteriyor.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Projemizi sadece bitirme tezi olarak değil, gerçek dünyada kullanılabilir bir prototip olarak tasarladık. Açık kaynak olarak yayınlıyoruz. Gelecekte termal kamera ve söndürme mekanizması ile tam fonksiyonel hale getirebiliriz.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 sonu. Soru-cevap için hazırız. Demo henüz açılmadıysa şimdi açıp gösterebiliriz.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FF6B35"/>
                </a:solidFill>
              </a:rPr>
              <a:t>🔥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5486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Otonom Yangın Tespit Sistemi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 •  Bulanık Mantık  •  Simulated Annealing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3771900"/>
            <a:ext cx="274320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38633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Piri Reis Üniversitesi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BIP 2012 · Bitirme Projesi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 Nur Işık &amp; Efe Düzçay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72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v3.1.1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 TANITIMI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 Nedir?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Otonom Robot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Yangınları erken evrede tespit eden ve müdahale eden 3 katmanlı gömülü sistem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251460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İnsan Bağımsız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Sürekli izleme, karar verme ve müdahale — operatör gerekmez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51560" y="33832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Akıllı Karar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70332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+ Bulanık Mantık + Simulated Annealing entegrasyonu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554480"/>
            <a:ext cx="1691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1645920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6.027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394960" y="242316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satır Python kodu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1554480"/>
            <a:ext cx="1691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645920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1.034</a:t>
            </a:r>
            <a:endParaRPr lang="en-US" sz="3000" b="1" dirty="0">
              <a:solidFill>
                <a:srgbClr val="FF6B3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tr-TR" altLang="en-US" sz="3000" b="1" dirty="0">
                <a:solidFill>
                  <a:srgbClr val="FF0000"/>
                </a:solidFill>
              </a:rPr>
              <a:t>111</a:t>
            </a:r>
            <a:endParaRPr lang="tr-TR" altLang="en-US" sz="3000" b="1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23760" y="242316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satır Arduino C++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94960" y="3063240"/>
            <a:ext cx="1691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3154680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50/50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394960" y="393192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birim test geçer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3063240"/>
            <a:ext cx="1691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3154680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223760" y="393192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mAP50 (sentetik)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Yangın Neden Geç Tespit Edilir?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Klasik sistemler dakikalar sonra tetiklenir; insan izlemeli; sabit nokta körlüğü var.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73152" cy="2468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40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Geç Tespit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2240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Klasik duman dedektörleri alev sahneye çıktıktan sonra tetiklenir. Yangın yayılmış olur.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01168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011680"/>
            <a:ext cx="73152" cy="2468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240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İnsan Bağımlılığı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74720" y="3291840"/>
            <a:ext cx="2240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CCTV sistemi varsa bile gece veya mesai dışında izleyen olmaz.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011680"/>
            <a:ext cx="73152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240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Sabit Nokta Körlüğü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63640" y="3291840"/>
            <a:ext cx="2240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Sabit kameralar açı dışını göremez. Hareketli bir göz gerekli.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PAZAR ANALIZI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Mevcut Sistemler Yetersiz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554480"/>
          <a:ext cx="868680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645920"/>
                <a:gridCol w="1645920"/>
                <a:gridCol w="128016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Sistem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Hız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Otonom mu?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Hareketli mi?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Maliyet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Duman Dedektörü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Yavaş ✗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Hayır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Hayır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Düşük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CCTV + İnsan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Orta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Hayır ✗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Hayır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Yüksek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 Destekli CCTV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Hızlı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Yarı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Hayır ✗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Çok Yüksek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47A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OYTS (Bizim)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Hızlı ✓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Evet ✓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Evet ✓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Düşük-Orta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ÇÖZÜMÜMÜZ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OYTS: Robot Otonom Yangınla Mücadele Eder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1920240"/>
            <a:ext cx="822960" cy="822960"/>
          </a:xfrm>
          <a:prstGeom prst="ellipse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4460" y="19202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697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GÖRÜYOR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ESP32-CAM ile ortamı sürekli izler. YOLOv8 modeli saniyede 16+ kareyi analiz eder.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64592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83380" y="1920240"/>
            <a:ext cx="822960" cy="8229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3380" y="19202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🧠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46120" y="2834640"/>
            <a:ext cx="2697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KARAR VERİYOR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24612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Bulanık Mantık ile yangının önceliğini, SA ile en kısa rotayı hesaplar.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64592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72300" y="1920240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2300" y="19202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🎯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35040" y="2834640"/>
            <a:ext cx="2697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MÜDAHALE EDİYOR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24612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Hedefe yaklaşır, sıcaklık 60°C eşiğini geçince güvenli müdahale başlar.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01F4D"/>
          </a:solidFill>
          <a:ln w="12700">
            <a:solidFill>
              <a:srgbClr val="00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 Hiçbir insan müdahalesine gerek yok — robot kendi görür, karar verir, müdahale eder. 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MIMARI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Üç Katman, Üç Sorumluluk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1554480"/>
            <a:ext cx="4572000" cy="82296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1600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 · Python 3.10+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19659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 ·  Tracker  ·  Fuzzy  ·  SA  ·  FSM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943600" y="2377440"/>
            <a:ext cx="91440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Wi-Fi · MJPEG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USB Serial · 115200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91840"/>
            <a:ext cx="73152" cy="1463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290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ESP32-CAM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Göz Katmanı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3657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MJPEG Wi-Fi stream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Telemetri (ısı, RSSI, PSRAM)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Runtime çözünürlük kontrolü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91840"/>
            <a:ext cx="73152" cy="146304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4290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Mega 2560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794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Beyin &amp; Kas Katmanı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4069080"/>
            <a:ext cx="3657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4WD motor + servo kontrolü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Voltaj izleme + yangın alarm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STATUS heartbeat + watchdog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DONANIM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Bileşenler ve Maliyet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554480"/>
          <a:ext cx="484632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Bileşen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Kamera modülü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ESP32-CAM (AI Thinker)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Mikrodenetleyici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Arduino Mega 2560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Motor sürücüsü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L298N Dual H-Bridge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Şasi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4WD TT Motor Platform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Servo motor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SG90 / MG90S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Güç kaynağı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3S LiPo 11.1V + 5V UBEC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İşlem birimi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PC (Mac / Windows)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554480"/>
            <a:ext cx="3017520" cy="2011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16916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TOPLAM MALİYET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0" y="205740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</a:t>
            </a:r>
            <a:r>
              <a:rPr lang="tr-TR" alt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9.000</a:t>
            </a: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TL</a:t>
            </a:r>
            <a:endParaRPr lang="en-US" sz="4200" dirty="0"/>
          </a:p>
        </p:txBody>
      </p:sp>
      <p:sp>
        <p:nvSpPr>
          <p:cNvPr id="4" name="Text 5"/>
          <p:cNvSpPr/>
          <p:nvPr/>
        </p:nvSpPr>
        <p:spPr>
          <a:xfrm>
            <a:off x="5669280" y="306324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E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(PC hariç)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3657600"/>
            <a:ext cx="3017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3703320"/>
            <a:ext cx="2834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Hobi elektronik mağazalarında bulunur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Tekrarlanabilir tasarım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KATMAN 1 · GÖZ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ESP32-CAM — Görüntü Akışı ve Telemetri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Wi-Fi MJPEG Stream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Gerçek zamanlı 30 fps yayın, kameranın doğal FPS limiti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WiFi Auto-Reconnect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Bağlantı düşerse non-blocking state machine ile yeniden bağlanır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 Çözünürlük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06324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/resolution endpoint ile QVGA → UXGA arası anlık değişim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33832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Telemetri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65760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IP, RSSI, PSRAM, FPS, sıcaklık, heap, frame count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Fail Watchdog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2519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kare üst üste başarısız olursa soft restart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1554480"/>
            <a:ext cx="3383280" cy="30175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164592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[HTTP] Endpoints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2011680"/>
            <a:ext cx="320040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/stream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MJPEG video akışı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/telemetry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JSON: ip, rssi, fps...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/resolution?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value=hd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runtime çözünürlük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/snapshot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tek-kare JPEG indir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KATMAN 2 · BEYIN &amp; KAS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Mega 2560 — Hareket ve Alarm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91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664208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Motor Kontrolü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057400"/>
            <a:ext cx="3108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L298N H-Bridge ile 4WD diferansiyel sürüş.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PWM hız kontrolü (60-255).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Non-blocking servo sweep.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55448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691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49240" y="1664208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Güvenlik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2057400"/>
            <a:ext cx="3108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ms komut zaman aşımı → otomatik dur.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Voltaj izleme (A0, voltaj bölücü).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Düşük pil uyarısı.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tr-T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32004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172968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Alarm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3108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 LED (D13) + opsiyonel buzzer.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sn sinyal gelmezse alarm söner.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Flash + ses kombinasyonu.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306324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2004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49240" y="3172968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İletişim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3566160"/>
            <a:ext cx="3108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heartbeat (1 sn).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Yapısal protokol: CMD:X;SPD:N.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handshake boot sinyali.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3484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PC→Arduino: </a:t>
            </a:r>
            <a:r>
              <a:rPr lang="en-US" sz="11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CMD:FORWARD;SPD:180;ARM:UP   </a:t>
            </a:r>
            <a:r>
              <a:rPr lang="en-US" sz="1100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FIRE:ON   </a:t>
            </a:r>
            <a:r>
              <a:rPr lang="en-US" sz="1100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QUERY:STATUS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KATMAN 3 · KARAR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 Tarafı — Yapay Zekâ Karar Zinciri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2940" y="1600200"/>
            <a:ext cx="118872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2940" y="160020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51660" y="1600200"/>
            <a:ext cx="137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88820" y="1600200"/>
            <a:ext cx="1188720" cy="59436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8820" y="160020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7540" y="1600200"/>
            <a:ext cx="137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14700" y="1600200"/>
            <a:ext cx="1188720" cy="59436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4700" y="160020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03420" y="1600200"/>
            <a:ext cx="137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0580" y="1600200"/>
            <a:ext cx="1188720" cy="59436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0580" y="160020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Fuzzy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29300" y="1600200"/>
            <a:ext cx="137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66460" y="1600200"/>
            <a:ext cx="1188720" cy="59436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6460" y="160020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55180" y="1600200"/>
            <a:ext cx="137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92340" y="1600200"/>
            <a:ext cx="1188720" cy="59436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2340" y="160020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FSM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ayrı AI modülü — her biri tek sorumluluk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803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tracker.py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57400" y="28803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28803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heatmap.py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0" y="28803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8803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distance.py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57800" y="28803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8803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fire_validator.py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28803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8803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bright_flame_detector.py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3375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375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sim_detector.py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57400" y="33375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33375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webhook.py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0" y="33375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3375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train.py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57800" y="33375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33375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train_roboflow.py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33375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375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evaluate.py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7947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7947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prepare_dataset.py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057400" y="37947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57400" y="37947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finetune_synthetic.py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0" y="3794760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37947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download_model.py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5491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3.10  ·  YOLOv8 (Ultralytics)  ·  PyTorch (MPS / CUDA)  ·  OpenCV  ·  Flask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ALGORITMA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— Derin Öğrenme Tabanlı Tespit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1148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Mimari: </a:t>
            </a: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YOLOv8s (Small) — 11.1M parametre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Çözünürlük: </a:t>
            </a: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640×640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Inference hızı: </a:t>
            </a: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16+ FPS (MPS), 3-5 FPS (CPU)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Sınıflar: </a:t>
            </a: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fire, smoke, default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FINE-TUNE STRATEJİSİ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4114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freeze=10 </a:t>
            </a: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(backbone dondurulur, sadece head öğrenir)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lr0=1e-4 </a:t>
            </a: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(catastrophic forgetting önleme)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patience=15 </a:t>
            </a: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(plato gelince erken durdurma)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VE BAŞARIM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029200" y="1874520"/>
          <a:ext cx="3657600" cy="164592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0584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Dataset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Boyut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mAP50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D-Fire + FASDD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 K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+ 5 K sentetik (FT)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 K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+ 2 K Roboflow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32 K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0.60 (real)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0" y="3703320"/>
            <a:ext cx="3657600" cy="914400"/>
          </a:xfrm>
          <a:prstGeom prst="rect">
            <a:avLst/>
          </a:prstGeom>
          <a:solidFill>
            <a:srgbClr val="001F4D"/>
          </a:solidFill>
          <a:ln w="12700">
            <a:solidFill>
              <a:srgbClr val="001F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0" y="374904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  Eğitim Süresi</a:t>
            </a:r>
            <a:endParaRPr lang="en-US" sz="1100" dirty="0"/>
          </a:p>
        </p:txBody>
      </p:sp>
      <p:sp>
        <p:nvSpPr>
          <p:cNvPr id="9" name="Text 9"/>
          <p:cNvSpPr/>
          <p:nvPr/>
        </p:nvSpPr>
        <p:spPr>
          <a:xfrm>
            <a:off x="5120640" y="402336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tr-TR" altLang="en-US" sz="1200" b="1" dirty="0">
                <a:solidFill>
                  <a:schemeClr val="bg1"/>
                </a:solidFill>
              </a:rPr>
              <a:t>+10 saat</a:t>
            </a:r>
            <a:endParaRPr lang="tr-TR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120640" y="429768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269% mAP50 iyileşmesi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ALGORITMA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Bulanık Mantık — Önceliklendirme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NEDEN BULANIK?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1148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Yangının "büyüklük" sınırı keskin değildir.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5000 piksel hem orta hem küçük olabilir.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Bulanık mantık derecelendirilmiş üyelikle karar verir — bir alev %60 MEDIUM + %40 SMALL olabilir.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4114800" cy="960120"/>
          </a:xfrm>
          <a:prstGeom prst="rect">
            <a:avLst/>
          </a:prstGeom>
          <a:solidFill>
            <a:srgbClr val="001F4D"/>
          </a:solidFill>
          <a:ln w="12700">
            <a:solidFill>
              <a:srgbClr val="00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7490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DEFUZZIFICATION (Mamdani)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406908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  =  Σ(μᵢ × vᵢ)  /  Σ(μᵢ)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ÜYELİK FONKSIYONLARI (TRAPEZOIDAL)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029200" y="1874520"/>
          <a:ext cx="3657600" cy="219456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9144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Küme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Aralık (piksel²)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Skor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SMALL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[0, 0, 2K, 3K]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[2K, 3K, 10K, 12K]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LARGE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[10K, 12K, 24K, 28K]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HUGE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[24K, 28K, 60K, 60K]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29200" y="4160520"/>
            <a:ext cx="3657600" cy="502920"/>
          </a:xfrm>
          <a:prstGeom prst="rect">
            <a:avLst/>
          </a:prstGeom>
          <a:solidFill>
            <a:srgbClr val="FFF7ED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416052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Örnek: 3K piksel → μ_SMALL=0.5 + μ_MEDIUM=0.5 → P=0.30</a:t>
            </a:r>
            <a:endParaRPr lang="en-US" sz="1000" dirty="0"/>
          </a:p>
        </p:txBody>
      </p:sp>
      <p:sp>
        <p:nvSpPr>
          <p:cNvPr id="10" name="Text 10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ALGORITMA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Simulated Annealing — Rota Optimizasyonu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3-5 yangın aynı anda → hangisine önce gitmeli?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Brute force (tüm permütasyonlar):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yangın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60604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65176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06040" y="320040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yangın · imkânsız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 PARAMETRELERİ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T_start=5000  ·  α=0.995  ·  max_iter=3000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Sonuç: 5-10 yangın için milisaniyeler içinde optimuma yakın çözüm (%95+)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1554480"/>
            <a:ext cx="3657600" cy="3108960"/>
          </a:xfrm>
          <a:prstGeom prst="rect">
            <a:avLst/>
          </a:prstGeom>
          <a:solidFill>
            <a:srgbClr val="001F4D"/>
          </a:solidFill>
          <a:ln w="12700">
            <a:solidFill>
              <a:srgbClr val="001F4D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169164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METROPOLIS KABUL KRİTERİ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05740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P(kabul) = e^(-ΔC / T)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12080" y="2743200"/>
            <a:ext cx="33832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Mevcut çözümü değiştir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Yeni daha iyiyse → KABUL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Kötüyse → P ihtimaliyle yine kabul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= T × α   (sıcaklığı düşür)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AKILLI FILTRELEME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Multi-Signal Validator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tek başına yetmez: kırmızı foto, ten, kırmızı duvar yangın sanılabilir.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202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1965960"/>
            <a:ext cx="50292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9659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7A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bright_core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V≥245 piksel oranı — gerçek alevin beyaz çekirdeği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8288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19202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931920" y="1965960"/>
            <a:ext cx="50292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9659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3774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7A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temporal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69748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Son N frame'de ROI içi piksel değişimi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8288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9202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🌀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035040" y="1965960"/>
            <a:ext cx="50292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9659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3774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7A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69748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Frame-to-frame absolute difference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18288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19202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138160" y="1965960"/>
            <a:ext cx="50292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9659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3774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7A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saturation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269748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Alev rengi konformanı (H + S + V profili)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SONUÇ MATRISI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457200" y="3749040"/>
          <a:ext cx="8229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777240"/>
                <a:gridCol w="731520"/>
                <a:gridCol w="1691640"/>
                <a:gridCol w="777240"/>
                <a:gridCol w="731520"/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Senaryo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Composite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Karar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Senaryo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Composite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Karar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Gerçek çakmak (titrer)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 KABUL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Statik kırmızı foto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 RED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Yangın videosu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 KABUL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Yüz / cilt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0.14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 RED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ORTAMI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Sentetik Simülasyon — Donanımsız Geliştirme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RENDER KATMANI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11480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Arka plan (loş oda)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Yer ışık yansıması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Duman parçacık sistemi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</a:t>
            </a: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Alev (noise + palette)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</a:t>
            </a: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 haze (sıcaklık)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</a:t>
            </a: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Kıvılcımlar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</a:t>
            </a: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Bloom (HDR)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</a:t>
            </a:r>
            <a:r>
              <a:rPr lang="en-US" sz="11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Tone mapping (ACES)</a:t>
            </a:r>
            <a:endParaRPr lang="en-US" sz="1100" dirty="0"/>
          </a:p>
        </p:txBody>
      </p:sp>
      <p:pic>
        <p:nvPicPr>
          <p:cNvPr id="6" name="Image 0" descr="/Users/efeduzcay/Desktop/robot-3.0.0/web/screenshots/demo_synthetic_3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46320" y="1554480"/>
            <a:ext cx="393192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4069080"/>
            <a:ext cx="1874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411480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25-40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846320" y="4434840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FPS (M1)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903720" y="4069080"/>
            <a:ext cx="1874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411480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5.000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03720" y="4434840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eğitim frame'i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5491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 Robot olmasa, kamera bozulsa bile sistem test edilebiliyor »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MÜHENDISLIK PRATIĞI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Profesyonel Yazılım Kalitesi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200400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50/50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pytest geçer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FCE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otomatik doğrulama her commit'te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55448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DAĞILIMI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3931920" y="1874520"/>
          <a:ext cx="4754880" cy="2423160"/>
        </p:xfrm>
        <a:graphic>
          <a:graphicData uri="http://schemas.openxmlformats.org/drawingml/2006/table">
            <a:tbl>
              <a:tblPr/>
              <a:tblGrid>
                <a:gridCol w="1737360"/>
                <a:gridCol w="640080"/>
                <a:gridCol w="2377440"/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Dosya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Kapsam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A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tracker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IoU, promotion, grace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fuzzy_sa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Üyelik, ordering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decision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FSM dallanmaları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ai_modules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Heatmap, distance...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fire_validator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4-sinyal validator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scene_generator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Sentetik render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config_csv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ConfigDict, CSV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01F4D"/>
          </a:solidFill>
          <a:ln w="12700">
            <a:solidFill>
              <a:srgbClr val="001F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hints  ·  Docstrings  ·  Cross-platform  ·  YAML config  ·  REST API  ·  Webhook  ·  Tek komut demo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SONUÇLAR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Başarım ve Canlı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828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3736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Sentetik mAP50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600200"/>
            <a:ext cx="1828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73736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23160" y="2468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Gerçek mAP50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828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15468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47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FPS (MPS M4)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3017520"/>
            <a:ext cx="1828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315468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&lt;1s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423160" y="3886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Tespit gecikmesi</a:t>
            </a:r>
            <a:endParaRPr lang="en-US" sz="1100" dirty="0"/>
          </a:p>
        </p:txBody>
      </p:sp>
      <p:pic>
        <p:nvPicPr>
          <p:cNvPr id="16" name="Image 0" descr="/Users/efeduzcay/Desktop/robot-3.0.0/web/screenshots/demo_synthetic_1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0" y="1600200"/>
            <a:ext cx="4206240" cy="2468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0" y="4114800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 2 yangın tespit ediyor + heatmap + FIRE etiketi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2976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 </a:t>
            </a: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./run_demo.sh synthetic</a:t>
            </a: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→  </a:t>
            </a:r>
            <a:r>
              <a:rPr lang="en-US" sz="1100" i="1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tarayıcı otomatik açılır, demo başlar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DEĞERLENDIRME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Sonuç ve Gelecek Çalışmalar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KAZANIMLAR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1148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7000+ satır kod, 50 birim test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modüler AI bileşeni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Hibrit: DL + klasik CV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Çapraz platform (macOS, Windows)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algoritma sınıfı entegrasyonu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SINIRLAMALAR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4114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Çok küçük alev (&lt;30px) zorlu — dataset sınırı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Aşırı parlak ortam kontrast düşürür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Wi-Fi mesafesi ~30-50 m (ESP32)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GELECEK ÇALIŞMALAR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7452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87452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4068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Termal kamera entegrasyonu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3774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23774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CO₂ söndürme mekanizması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88036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28803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Çoklu robot koordinasyonu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3832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338328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Learning MLOps 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88620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8862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38862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Termoplastik 3D baskı şasi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691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OYTS · v3.1.1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86918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Teşekkürler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Sorularınız?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3794760"/>
            <a:ext cx="3200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 Nur Işık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Efe Düzçay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3794760"/>
            <a:ext cx="3657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🐙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github.com/efeduzcay/robotproje123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mesleki-proje.github.io/web-sitesi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🏛 </a:t>
            </a: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Piri Reis Üniversitesi · BIP 2012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7680</Words>
  <Application>WPS Sunum</Application>
  <PresentationFormat>On-screen Show (16:9)</PresentationFormat>
  <Paragraphs>802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OYTS — Otonom Yangın Tespit Sistemi</dc:title>
  <dc:creator>Sema Nur Işık &amp; Efe Düzçay</dc:creator>
  <dc:subject>Piri Reis Üniversitesi BIP 2012 Bitirme Projesi</dc:subject>
  <cp:lastModifiedBy>Sem</cp:lastModifiedBy>
  <cp:revision>3</cp:revision>
  <dcterms:created xsi:type="dcterms:W3CDTF">2026-06-01T14:04:00Z</dcterms:created>
  <dcterms:modified xsi:type="dcterms:W3CDTF">2026-06-04T08:32:49Z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36ABB831C3474FE395AF11D58199212D_13</vt:lpwstr>
  </property>
  <property fmtid="{D5CDD505-2E9C-101B-9397-08002B2CF9AE}" pid="3" name="KSOProductBuildVer">
    <vt:lpwstr>1055-12.2.0.22549</vt:lpwstr>
  </property>
</Properties>
</file>